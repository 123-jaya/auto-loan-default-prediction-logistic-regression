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72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5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9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1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23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20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8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4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29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9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3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A366-346C-357A-74F4-AC21182F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336"/>
            <a:ext cx="8229600" cy="1141778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</a:t>
            </a:r>
            <a:r>
              <a:rPr lang="en-US" sz="2400" b="1" dirty="0" err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Siddaganga</a:t>
            </a: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Institute of Technology, Tumkur-572103</a:t>
            </a:r>
            <a:br>
              <a:rPr lang="en-US" sz="2400" dirty="0"/>
            </a:br>
            <a:r>
              <a:rPr lang="en-US" sz="1200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(An autonomous institution affiliated to VTU, Belagavi, Approved by AICTE, New Delhi)</a:t>
            </a:r>
            <a:br>
              <a:rPr lang="en-US" sz="2400" dirty="0"/>
            </a:br>
            <a:endParaRPr lang="en-IN" sz="24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418230AA-1224-7424-3681-A1A44D59B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7007" y="858343"/>
            <a:ext cx="949984" cy="921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C81E18-5EE5-1EB8-69B2-CBEAAE0D68FB}"/>
              </a:ext>
            </a:extLst>
          </p:cNvPr>
          <p:cNvSpPr txBox="1"/>
          <p:nvPr/>
        </p:nvSpPr>
        <p:spPr>
          <a:xfrm>
            <a:off x="704678" y="2004457"/>
            <a:ext cx="7516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43728"/>
                </a:solidFill>
                <a:latin typeface="Open Sans" panose="020B0606030504020204" pitchFamily="34" charset="0"/>
                <a:ea typeface="Open Sans" panose="020B0606030504020204" pitchFamily="34" charset="-122"/>
                <a:cs typeface="Open Sans" panose="020B0606030504020204" pitchFamily="34" charset="-120"/>
              </a:rPr>
              <a:t>Department of Electronics and Telecommunication Engineering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FFA730-AFA0-39CC-0373-FAFE5275F668}"/>
              </a:ext>
            </a:extLst>
          </p:cNvPr>
          <p:cNvSpPr txBox="1"/>
          <p:nvPr/>
        </p:nvSpPr>
        <p:spPr>
          <a:xfrm>
            <a:off x="2962400" y="2482989"/>
            <a:ext cx="3279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+mj-lt"/>
              </a:rPr>
              <a:t>MACHINE LEARNING ABL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59640C-D9CD-E549-D745-5B330F4F7AD5}"/>
              </a:ext>
            </a:extLst>
          </p:cNvPr>
          <p:cNvSpPr txBox="1"/>
          <p:nvPr/>
        </p:nvSpPr>
        <p:spPr>
          <a:xfrm>
            <a:off x="1958183" y="2798302"/>
            <a:ext cx="5819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+mj-lt"/>
              </a:rPr>
              <a:t>“Loan Default Prediction Using Logistic Regression”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1B3242-E8D7-3735-BCBE-3257E17E921F}"/>
              </a:ext>
            </a:extLst>
          </p:cNvPr>
          <p:cNvSpPr txBox="1"/>
          <p:nvPr/>
        </p:nvSpPr>
        <p:spPr>
          <a:xfrm>
            <a:off x="2582961" y="3429000"/>
            <a:ext cx="3978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Presented by</a:t>
            </a:r>
          </a:p>
          <a:p>
            <a:r>
              <a:rPr lang="en-IN" dirty="0"/>
              <a:t>JAYADIXITHA S P                       1SI23ET019</a:t>
            </a:r>
          </a:p>
          <a:p>
            <a:r>
              <a:rPr lang="en-IN"/>
              <a:t>MOHAMMED FURQAN        </a:t>
            </a:r>
            <a:r>
              <a:rPr lang="en-IN" dirty="0"/>
              <a:t>1SI23ET030</a:t>
            </a:r>
          </a:p>
          <a:p>
            <a:r>
              <a:rPr lang="en-IN" dirty="0"/>
              <a:t>NAGAPRIYA K G                        1SI23ET031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B18F80-7D55-BD8C-C4C0-3DB5C98403EB}"/>
              </a:ext>
            </a:extLst>
          </p:cNvPr>
          <p:cNvSpPr txBox="1"/>
          <p:nvPr/>
        </p:nvSpPr>
        <p:spPr>
          <a:xfrm>
            <a:off x="3476740" y="4711489"/>
            <a:ext cx="196348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Submitted to</a:t>
            </a:r>
          </a:p>
          <a:p>
            <a:pPr algn="ctr"/>
            <a:r>
              <a:rPr lang="en-IN" dirty="0"/>
              <a:t>Dr. R N Sathish sir</a:t>
            </a:r>
          </a:p>
          <a:p>
            <a:pPr algn="ctr"/>
            <a:r>
              <a:rPr lang="en-IN" dirty="0"/>
              <a:t>Assistant Professor</a:t>
            </a:r>
          </a:p>
          <a:p>
            <a:pPr algn="ctr"/>
            <a:r>
              <a:rPr lang="en-IN" dirty="0"/>
              <a:t>Department of ETE</a:t>
            </a:r>
          </a:p>
          <a:p>
            <a:pPr algn="ctr"/>
            <a:r>
              <a:rPr lang="en-IN" dirty="0"/>
              <a:t>SIT, Tumkur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219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Banks provide auto loans to customers.</a:t>
            </a:r>
          </a:p>
          <a:p>
            <a:pPr marL="457200" lvl="1" indent="0">
              <a:buNone/>
            </a:pPr>
            <a:r>
              <a:rPr dirty="0"/>
              <a:t>• Some customers default (Bad Loans).</a:t>
            </a:r>
          </a:p>
          <a:p>
            <a:pPr marL="457200" lvl="1" indent="0">
              <a:buNone/>
            </a:pPr>
            <a:r>
              <a:rPr dirty="0"/>
              <a:t>• We must predict loan default risk using Age.</a:t>
            </a:r>
          </a:p>
          <a:p>
            <a:pPr marL="457200" lvl="1" indent="0">
              <a:buNone/>
            </a:pPr>
            <a:r>
              <a:rPr dirty="0"/>
              <a:t>• Binary Classification Problem:</a:t>
            </a:r>
          </a:p>
          <a:p>
            <a:pPr marL="457200" lvl="1" indent="0">
              <a:buNone/>
            </a:pPr>
            <a:r>
              <a:rPr lang="en-IN" dirty="0"/>
              <a:t>   </a:t>
            </a:r>
            <a:r>
              <a:rPr dirty="0"/>
              <a:t> 0 → Good Loan</a:t>
            </a:r>
          </a:p>
          <a:p>
            <a:pPr marL="457200" lvl="1" indent="0">
              <a:buNone/>
            </a:pPr>
            <a:r>
              <a:rPr lang="en-IN" dirty="0"/>
              <a:t> </a:t>
            </a:r>
            <a:r>
              <a:rPr dirty="0"/>
              <a:t>   1 → Bad Loan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15 age groups used.</a:t>
            </a:r>
          </a:p>
          <a:p>
            <a:pPr marL="457200" lvl="1" indent="0">
              <a:buNone/>
            </a:pPr>
            <a:r>
              <a:rPr dirty="0"/>
              <a:t>• Features: </a:t>
            </a:r>
            <a:r>
              <a:rPr dirty="0" err="1"/>
              <a:t>Age_Mid</a:t>
            </a:r>
            <a:endParaRPr dirty="0"/>
          </a:p>
          <a:p>
            <a:pPr marL="457200" lvl="1" indent="0">
              <a:buNone/>
            </a:pPr>
            <a:r>
              <a:rPr dirty="0"/>
              <a:t>• Target: Bad Loan (0/1)</a:t>
            </a:r>
          </a:p>
          <a:p>
            <a:pPr marL="457200" lvl="1" indent="0">
              <a:buNone/>
            </a:pPr>
            <a:r>
              <a:rPr dirty="0"/>
              <a:t>• Total records after expansion: 60,816</a:t>
            </a:r>
          </a:p>
          <a:p>
            <a:pPr marL="457200" lvl="1" indent="0">
              <a:buNone/>
            </a:pPr>
            <a:r>
              <a:rPr dirty="0"/>
              <a:t>• Highly imbalanced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Logistic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Used for binary classification problems.</a:t>
            </a:r>
          </a:p>
          <a:p>
            <a:pPr marL="457200" lvl="1" indent="0">
              <a:buNone/>
            </a:pPr>
            <a:r>
              <a:rPr dirty="0"/>
              <a:t>• Predicts probability between 0 and 1.</a:t>
            </a:r>
          </a:p>
          <a:p>
            <a:pPr marL="457200" lvl="1" indent="0">
              <a:buNone/>
            </a:pPr>
            <a:r>
              <a:rPr dirty="0"/>
              <a:t>• Uses Sigmoid function.</a:t>
            </a:r>
          </a:p>
          <a:p>
            <a:pPr marL="457200" lvl="1" indent="0">
              <a:buNone/>
            </a:pPr>
            <a:r>
              <a:rPr dirty="0"/>
              <a:t>• Easy to interpret using Odds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P(Y=1) = 1 / (1 + e^-(β0 + β1X))</a:t>
            </a:r>
          </a:p>
          <a:p>
            <a:pPr marL="457200" lvl="1" indent="0">
              <a:buNone/>
            </a:pPr>
            <a:r>
              <a:rPr dirty="0"/>
              <a:t>• β0 → Intercept</a:t>
            </a:r>
          </a:p>
          <a:p>
            <a:pPr marL="457200" lvl="1" indent="0">
              <a:buNone/>
            </a:pPr>
            <a:r>
              <a:rPr dirty="0"/>
              <a:t>• β1 → Coefficient (Age impact)</a:t>
            </a:r>
          </a:p>
          <a:p>
            <a:pPr marL="457200" lvl="1" indent="0">
              <a:buNone/>
            </a:pPr>
            <a:r>
              <a:rPr dirty="0"/>
              <a:t>• Output → Probability of Bad Loan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Dataset Expansion</a:t>
            </a:r>
          </a:p>
          <a:p>
            <a:pPr lvl="1"/>
            <a:r>
              <a:rPr dirty="0"/>
              <a:t>2. Train-Test Split (70%-30%)</a:t>
            </a:r>
          </a:p>
          <a:p>
            <a:pPr lvl="1"/>
            <a:r>
              <a:rPr dirty="0"/>
              <a:t>3. Feature Scaling</a:t>
            </a:r>
          </a:p>
          <a:p>
            <a:pPr lvl="1"/>
            <a:r>
              <a:rPr dirty="0"/>
              <a:t>4. Logistic Regression (</a:t>
            </a:r>
            <a:r>
              <a:rPr dirty="0" err="1"/>
              <a:t>class_weight</a:t>
            </a:r>
            <a:r>
              <a:rPr dirty="0"/>
              <a:t>='balanced')</a:t>
            </a:r>
          </a:p>
          <a:p>
            <a:pPr lvl="1"/>
            <a:r>
              <a:rPr dirty="0"/>
              <a:t>5. Model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True Negatives: 10949</a:t>
            </a:r>
          </a:p>
          <a:p>
            <a:pPr lvl="1"/>
            <a:r>
              <a:t>False Positives: 6839</a:t>
            </a:r>
          </a:p>
          <a:p>
            <a:pPr lvl="1"/>
            <a:r>
              <a:t>False Negatives: 238</a:t>
            </a:r>
          </a:p>
          <a:p>
            <a:pPr lvl="1"/>
            <a:r>
              <a:t>True Positives: 219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9C690-8373-2BDB-9740-E26420781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649" y="2406061"/>
            <a:ext cx="4296351" cy="32222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583" y="810452"/>
            <a:ext cx="7704667" cy="739452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ROC &amp; Precision-Recall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913" y="2054837"/>
            <a:ext cx="7704667" cy="148791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ROC AUC = 0.58 (Moderate performance)</a:t>
            </a:r>
          </a:p>
          <a:p>
            <a:pPr marL="457200" lvl="1" indent="0">
              <a:buNone/>
            </a:pPr>
            <a:r>
              <a:rPr dirty="0"/>
              <a:t>• Model slightly better than random guessing.</a:t>
            </a:r>
          </a:p>
          <a:p>
            <a:pPr marL="457200" lvl="1" indent="0">
              <a:buNone/>
            </a:pPr>
            <a:r>
              <a:rPr dirty="0"/>
              <a:t>• Precision is low due to class imbalance.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AB5E4D-0799-13DE-A4C1-A2B0C56BA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79" y="3566224"/>
            <a:ext cx="3854867" cy="2891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4E6492-6886-BD78-A0DD-BACE78A0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917" y="3542753"/>
            <a:ext cx="3917457" cy="29380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Accuracy: 61%</a:t>
            </a:r>
          </a:p>
          <a:p>
            <a:pPr lvl="1"/>
            <a:r>
              <a:rPr dirty="0"/>
              <a:t>Precision (Bad Loan): 3%</a:t>
            </a:r>
          </a:p>
          <a:p>
            <a:pPr lvl="1"/>
            <a:r>
              <a:rPr dirty="0"/>
              <a:t>Recall (Bad Loan): 48%</a:t>
            </a:r>
          </a:p>
          <a:p>
            <a:pPr lvl="1"/>
            <a:r>
              <a:rPr dirty="0"/>
              <a:t>F1 Score: 5.8%</a:t>
            </a:r>
          </a:p>
          <a:p>
            <a:pPr lvl="1"/>
            <a:r>
              <a:rPr dirty="0"/>
              <a:t>AUC Score: 0.58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6C3C-9BB1-EC88-0D96-78D7CC8F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Probability Distribution by Class</a:t>
            </a:r>
            <a:br>
              <a:rPr lang="en-GB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E196-0046-F190-273B-8BB9EF244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• Shows distribution of predicted probabilities for Good Loans and Bad Loans.</a:t>
            </a:r>
          </a:p>
          <a:p>
            <a:pPr marL="0" indent="0">
              <a:buNone/>
            </a:pPr>
            <a:r>
              <a:rPr lang="en-GB" dirty="0"/>
              <a:t>• Good loans mostly have lower probabilities, but there is overlap between classes.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A0962-A1D4-A37B-B318-718912EC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261" y="3670891"/>
            <a:ext cx="4059866" cy="304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77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Model probabilities are not perfectly calibrated.</a:t>
            </a:r>
          </a:p>
          <a:p>
            <a:pPr marL="457200" lvl="1" indent="0">
              <a:buNone/>
            </a:pPr>
            <a:r>
              <a:rPr dirty="0"/>
              <a:t>• Predicted probabilities differ from actual risk.</a:t>
            </a:r>
          </a:p>
          <a:p>
            <a:pPr marL="457200" lvl="1" indent="0">
              <a:buNone/>
            </a:pPr>
            <a:r>
              <a:rPr dirty="0"/>
              <a:t>• Indicates need for calibration improvement.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95E38-D739-94C9-B084-DC2B5E09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902" y="3563716"/>
            <a:ext cx="4026195" cy="30196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Curve (Age vs Risk)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Age coefficient is negative.</a:t>
            </a:r>
          </a:p>
          <a:p>
            <a:pPr marL="457200" lvl="1" indent="0">
              <a:buNone/>
            </a:pPr>
            <a:r>
              <a:rPr dirty="0"/>
              <a:t>• Odds Ratio = 0.71</a:t>
            </a:r>
          </a:p>
          <a:p>
            <a:pPr marL="457200" lvl="1" indent="0">
              <a:buNone/>
            </a:pPr>
            <a:r>
              <a:rPr dirty="0"/>
              <a:t>• Increasing Age decreases bad loan risk.</a:t>
            </a:r>
          </a:p>
          <a:p>
            <a:pPr marL="457200" lvl="1" indent="0">
              <a:buNone/>
            </a:pPr>
            <a:r>
              <a:rPr dirty="0"/>
              <a:t>• Younger customers have higher default risk.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63501-E80B-C145-5928-4578FFE78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58" y="3718737"/>
            <a:ext cx="4017335" cy="30130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Interpretation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7C9FD8-EC05-91B1-C11A-639571D51F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206" y="1983659"/>
            <a:ext cx="820527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Intercept (β₀ = −0.0546) represents baseline log-odds of default.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Coefficient (β₁ = −0.3395) indicates the effect of age on default probability.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Odds ratio (0.712) shows that default risk decreases as age increases.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Age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negatively related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loan default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large dataset for accurate prediction.</a:t>
            </a:r>
          </a:p>
          <a:p>
            <a:r>
              <a:rPr lang="en-US" dirty="0"/>
              <a:t>Assumes linear relationship between predictors and logit.</a:t>
            </a:r>
          </a:p>
          <a:p>
            <a:r>
              <a:rPr lang="en-US" dirty="0"/>
              <a:t>Sensitive to outliers in data.</a:t>
            </a:r>
          </a:p>
          <a:p>
            <a:r>
              <a:rPr lang="en-US" dirty="0"/>
              <a:t>Mainly applicable to binary classification problems.</a:t>
            </a:r>
          </a:p>
          <a:p>
            <a:r>
              <a:rPr lang="en-US" dirty="0"/>
              <a:t>Multicollinearity between independent variables affects the model.</a:t>
            </a:r>
          </a:p>
          <a:p>
            <a:r>
              <a:rPr lang="en-US" dirty="0"/>
              <a:t>Cannot capture complex nonlinear relationships.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Integration with advanced machine learning techniques.</a:t>
            </a:r>
          </a:p>
          <a:p>
            <a:r>
              <a:rPr lang="en-US" dirty="0"/>
              <a:t>Ability to handle large-scale and big data applications.</a:t>
            </a:r>
          </a:p>
          <a:p>
            <a:r>
              <a:rPr lang="en-US" dirty="0"/>
              <a:t>Use of regularization techniques like L1 and L2.</a:t>
            </a:r>
          </a:p>
          <a:p>
            <a:r>
              <a:rPr lang="en-US" dirty="0"/>
              <a:t>Support for multiclass classification.</a:t>
            </a:r>
          </a:p>
          <a:p>
            <a:r>
              <a:rPr lang="en-US" dirty="0"/>
              <a:t>Use in real-time prediction systems such as fraud detection and risk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Logistic Regression successfully modeled loan risk.</a:t>
            </a:r>
          </a:p>
          <a:p>
            <a:pPr marL="457200" lvl="1" indent="0">
              <a:buNone/>
            </a:pPr>
            <a:r>
              <a:rPr dirty="0"/>
              <a:t>• Age impacts loan default probability.</a:t>
            </a:r>
          </a:p>
          <a:p>
            <a:pPr marL="457200" lvl="1" indent="0">
              <a:buNone/>
            </a:pPr>
            <a:r>
              <a:rPr dirty="0"/>
              <a:t>• Model gives interpretable business insights.</a:t>
            </a:r>
          </a:p>
          <a:p>
            <a:pPr marL="457200" lvl="1" indent="0">
              <a:buNone/>
            </a:pPr>
            <a:r>
              <a:rPr dirty="0"/>
              <a:t>• Can help banks reduce financial risk.</a:t>
            </a:r>
            <a:endParaRPr lang="en-US" dirty="0"/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88</TotalTime>
  <Words>602</Words>
  <Application>Microsoft Office PowerPoint</Application>
  <PresentationFormat>On-screen Show (4:3)</PresentationFormat>
  <Paragraphs>95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 Light</vt:lpstr>
      <vt:lpstr>Crimson Pro Bold</vt:lpstr>
      <vt:lpstr>Open Sans</vt:lpstr>
      <vt:lpstr>Metropolitan</vt:lpstr>
      <vt:lpstr>    Siddaganga Institute of Technology, Tumkur-572103 (An autonomous institution affiliated to VTU, Belagavi, Approved by AICTE, New Delhi) </vt:lpstr>
      <vt:lpstr>Problem Statement</vt:lpstr>
      <vt:lpstr>Dataset Overview</vt:lpstr>
      <vt:lpstr>Why Logistic Regression?</vt:lpstr>
      <vt:lpstr>Logistic Regression Formula</vt:lpstr>
      <vt:lpstr>Model Training Process</vt:lpstr>
      <vt:lpstr>Confusion Matrix Results</vt:lpstr>
      <vt:lpstr>ROC &amp; Precision-Recall Analysis</vt:lpstr>
      <vt:lpstr>Model Performance</vt:lpstr>
      <vt:lpstr>Probability Distribution by Class </vt:lpstr>
      <vt:lpstr>Calibration Curve</vt:lpstr>
      <vt:lpstr>Sigmoid Curve (Age vs Risk)</vt:lpstr>
      <vt:lpstr>Model Interpretation</vt:lpstr>
      <vt:lpstr>Limitations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Mohammed Furqan</cp:lastModifiedBy>
  <cp:revision>7</cp:revision>
  <dcterms:created xsi:type="dcterms:W3CDTF">2013-01-27T09:14:16Z</dcterms:created>
  <dcterms:modified xsi:type="dcterms:W3CDTF">2026-03-12T17:26:03Z</dcterms:modified>
  <cp:category/>
</cp:coreProperties>
</file>